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One-line pitch: FarmRescue answers the 3 a.m. question — what do I do right now? Emphasise that the product is deterministic by design and that AI never decides.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 the problem as a delivery and trust failure, not a knowledge gap. Unsafe advice is worse than no advice.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credibility slide. Explain WHY determinism matters: agricultural advice is safety-critical, so a stochastic decision-maker is unacceptable — and determinism makes the system testable.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Heat stress adds CRITICAL at ≥40 °C during flowering or panicle initiation. Pest / disease deliberately never recommends a pesticide.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 time allows, demo only two things live: the AVOID interception and the simulator escalating to CRITICAL.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Volunteer the parked scope and the gaps unprompted — it buys credibility for everything else. Do not run two dev servers against the same data during the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determinism, then invite questions — they will be about safety and trust, which is exactly the ground the system is built to defend.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E1B"/>
            </a:gs>
            <a:gs pos="100000">
              <a:srgbClr val="051A1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01200" y="-1463040"/>
            <a:ext cx="4389120" cy="4389120"/>
          </a:xfrm>
          <a:prstGeom prst="ellipse">
            <a:avLst/>
          </a:prstGeom>
          <a:solidFill>
            <a:srgbClr val="1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371600" y="3931920"/>
            <a:ext cx="3657600" cy="3657600"/>
          </a:xfrm>
          <a:prstGeom prst="ellipse">
            <a:avLst/>
          </a:prstGeom>
          <a:solidFill>
            <a:srgbClr val="0F3D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9808" y="621792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Segoe UI"/>
              </a:rPr>
              <a:t>OFFICIAL PROJECT BRIEFING  ·  OCTOBER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1024128"/>
            <a:ext cx="100584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Segoe UI Semibold"/>
              </a:rPr>
              <a:t>🌾  FarmRescue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2157984"/>
            <a:ext cx="104241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0" i="0">
                <a:solidFill>
                  <a:srgbClr val="D1FAE5"/>
                </a:solidFill>
                <a:latin typeface="Segoe UI Semibold"/>
              </a:rPr>
              <a:t>Emergency Agricultural Early-Warning &amp; Response Platform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1">
                <a:solidFill>
                  <a:srgbClr val="9CD8B8"/>
                </a:solidFill>
                <a:latin typeface="Segoe UI"/>
              </a:rPr>
              <a:t>“What should I do when the farm suddenly goes wrong?”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749808" y="3218688"/>
            <a:ext cx="91440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3493008"/>
            <a:ext cx="104241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0" i="0">
                <a:solidFill>
                  <a:srgbClr val="FFFFFF"/>
                </a:solidFill>
                <a:latin typeface="Segoe UI"/>
              </a:rPr>
              <a:t>Farmers get no trustworthy guidance in the hours that decide whether a crop survives.</a:t>
            </a:r>
          </a:p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D1FAE5"/>
                </a:solidFill>
                <a:latin typeface="Segoe UI"/>
              </a:rPr>
              <a:t>FarmRescue answers that window with a deterministic agronomic decision engine: raw field evidence becomes a validated, expert-authored action plan in seconds — where data and rules decide, and AI only explains.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414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6163056"/>
            <a:ext cx="76809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D1FAE5"/>
                </a:solidFill>
                <a:latin typeface="Segoe UI"/>
              </a:rPr>
              <a:t>Next.js 14 (App Router)  ·  TypeScript  ·  Tailwind CSS  ·  MongoDB  ·  Gemini explanation 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02575" y="6163056"/>
            <a:ext cx="38404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0B981"/>
                </a:solidFill>
                <a:latin typeface="Segoe UI"/>
              </a:rPr>
              <a:t>7-slide brief  ·  Hackathon product demo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CONTEXT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325880"/>
            <a:ext cx="11057839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100" b="1" i="0">
                <a:solidFill>
                  <a:srgbClr val="133B27"/>
                </a:solidFill>
                <a:latin typeface="Segoe UI Semibold"/>
              </a:rPr>
              <a:t>A crop emergency does not wait for the extension officer.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5B6B80"/>
                </a:solidFill>
                <a:latin typeface="Segoe UI"/>
              </a:rPr>
              <a:t>Waterlogging, submergence and heat stress cross critical thresholds within a single day — the window to act is measured in hours, not weeks.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95728"/>
            <a:ext cx="3503066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22960" y="2633472"/>
            <a:ext cx="457200" cy="68580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Invisible onset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10128"/>
            <a:ext cx="299100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Stress crosses damaging thresholds silently overnight. By the time the damage is visible, the highest-value intervention window has already closed.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4314" y="2395728"/>
            <a:ext cx="3503066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00346" y="2633472"/>
            <a:ext cx="457200" cy="68580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00346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Generic, sometimes dangerous 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00346" y="3310128"/>
            <a:ext cx="299100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Blanket advisory ignores field state. Telling a farmer to top-dress urea into standing flood water does not just fail — it makes the loss worse.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21700" y="2395728"/>
            <a:ext cx="3503066" cy="2788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377732" y="2633472"/>
            <a:ext cx="457200" cy="68580"/>
          </a:xfrm>
          <a:prstGeom prst="rect">
            <a:avLst/>
          </a:prstGeom>
          <a:solidFill>
            <a:srgbClr val="5B6B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77732" y="2816352"/>
            <a:ext cx="299100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1" i="0">
                <a:solidFill>
                  <a:srgbClr val="1E293B"/>
                </a:solidFill>
                <a:latin typeface="Segoe UI Semibold"/>
              </a:rPr>
              <a:t>No traceability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7732" y="3310128"/>
            <a:ext cx="2991002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B6B80"/>
                </a:solidFill>
                <a:latin typeface="Segoe UI"/>
              </a:rPr>
              <a:t>Guidance arrives by word of mouth with no record of the evidence used, who verified it, or whether the crop recovered. Nothing is auditable, so nothing improves.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5440680"/>
            <a:ext cx="11057839" cy="74980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5559552"/>
            <a:ext cx="10436047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065F46"/>
                </a:solidFill>
                <a:latin typeface="Segoe UI"/>
              </a:rPr>
              <a:t>The agronomic knowledge already exists — ICAR / IRRI protocols are well documented. The failure is delivery: it does not reach the farmer at the moment of need, in a form that is actionable and safe.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DESIGN PRINCIPLE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Solution in One Rule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11057839" cy="1170432"/>
          </a:xfrm>
          <a:prstGeom prst="roundRect">
            <a:avLst>
              <a:gd name="adj" fmla="val 6000"/>
            </a:avLst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82296" cy="117043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8" y="1426464"/>
            <a:ext cx="10234879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1" i="0">
                <a:solidFill>
                  <a:srgbClr val="FFFFFF"/>
                </a:solidFill>
                <a:latin typeface="Segoe UI Semibold"/>
              </a:rPr>
              <a:t>“Data and validated agricultural rules determine risk and allowed actions. AI explains validated results; AI does not independently decide what a farmer should do.”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560320"/>
            <a:ext cx="11057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E293B"/>
                </a:solidFill>
                <a:latin typeface="Segoe UI Semibold"/>
              </a:rPr>
              <a:t>The decision pipeline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04088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4088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Inputs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04088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Live weather (Open-Meteo + calibrated fallback), farmer observations, ground measurements.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2244852" y="3154679"/>
            <a:ext cx="155448" cy="1554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432304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569464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569464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9464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Evidence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69464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Typed evidence carrying source, reliability, strength and freshness.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110228" y="3154679"/>
            <a:ext cx="155448" cy="1554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97680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434840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Risk rules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Versioned deterministic rules map evidence → severity, with no randomness.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975604" y="3154679"/>
            <a:ext cx="155448" cy="1554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300216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0216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0216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Safety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0216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Validates every action and injects AVOID interceptions for hazards.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7840980" y="3154679"/>
            <a:ext cx="155448" cy="1554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8028431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165592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165592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65592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Action library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Pre-stored expert plans: DO NOW, DO NEXT, AVOID, MONITOR, ESCALATE.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9706356" y="3154679"/>
            <a:ext cx="155448" cy="155448"/>
          </a:xfrm>
          <a:prstGeom prst="rightArrow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893807" y="2880360"/>
            <a:ext cx="1645920" cy="1874519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30967" y="3017520"/>
            <a:ext cx="274320" cy="274320"/>
          </a:xfrm>
          <a:prstGeom prst="ellipse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30967" y="3076956"/>
            <a:ext cx="2743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Segoe UI Semibold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030967" y="3383280"/>
            <a:ext cx="1371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E293B"/>
                </a:solidFill>
                <a:latin typeface="Segoe UI Semibold"/>
              </a:rPr>
              <a:t>Explain &amp; verify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30967" y="3703320"/>
            <a:ext cx="13716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AI explains the validated result; a field worker verifies; the outcome is logged.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66928" y="4956048"/>
            <a:ext cx="11057839" cy="603504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9536" y="5065776"/>
            <a:ext cx="10472623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065F46"/>
                </a:solidFill>
                <a:latin typeface="Segoe UI"/>
              </a:rPr>
              <a:t>The AI layer runs strictly after these steps. It may explain a validated result, but it cannot alter severity, change an action plan, or override a safety interception — and the product still works when Gemini is unavailable.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66928" y="5687568"/>
            <a:ext cx="11057839" cy="548640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59536" y="5788152"/>
            <a:ext cx="10472623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Persistence  ·  MongoDB hydrate-on-boot, write-behind (debounced ≈800 ms), transparent in-memory fallback  ·  health at GET /api/system/persistence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Deterministic Risk Engine &amp; Content Library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80160"/>
            <a:ext cx="534924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E293B"/>
                </a:solidFill>
                <a:latin typeface="Segoe UI Semibold"/>
              </a:rPr>
              <a:t>Paddy waterlogging severity ladder (as implemented)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609344"/>
            <a:ext cx="5349240" cy="475488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76656" y="1700784"/>
            <a:ext cx="960120" cy="292608"/>
          </a:xfrm>
          <a:prstGeom prst="roundRect">
            <a:avLst>
              <a:gd name="adj" fmla="val 30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76656" y="1755648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55648" y="1677924"/>
            <a:ext cx="4050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rainfall ≥ 100 mm, or ≥ 75 mm with ≥ 36 h standing water (poor drainage)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139696"/>
            <a:ext cx="5349240" cy="475488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76656" y="2231136"/>
            <a:ext cx="960120" cy="292608"/>
          </a:xfrm>
          <a:prstGeom prst="roundRect">
            <a:avLst>
              <a:gd name="adj" fmla="val 30000"/>
            </a:avLst>
          </a:prstGeom>
          <a:solidFill>
            <a:srgbClr val="C24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6656" y="2286000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55648" y="2208276"/>
            <a:ext cx="4050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rainfall ≥ 60 mm, or ≥ 24 h standing water, or ≥ 15 cm depth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2670048"/>
            <a:ext cx="5349240" cy="475488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76656" y="2761488"/>
            <a:ext cx="960120" cy="292608"/>
          </a:xfrm>
          <a:prstGeom prst="roundRect">
            <a:avLst>
              <a:gd name="adj" fmla="val 30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6" y="2816352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MODERATE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55648" y="2738628"/>
            <a:ext cx="4050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rainfall ≥ 30 mm, or standing water ≥ 8 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200400"/>
            <a:ext cx="5349240" cy="475488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76656" y="3291840"/>
            <a:ext cx="960120" cy="292608"/>
          </a:xfrm>
          <a:prstGeom prst="roundRect">
            <a:avLst>
              <a:gd name="adj" fmla="val 30000"/>
            </a:avLst>
          </a:prstGeom>
          <a:solidFill>
            <a:srgbClr val="94A3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76656" y="3346704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LOW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55648" y="3268980"/>
            <a:ext cx="4050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rainfall ≥ 15 mm, or any standing water &gt; 0 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3730752"/>
            <a:ext cx="5349240" cy="475488"/>
          </a:xfrm>
          <a:prstGeom prst="roundRect">
            <a:avLst>
              <a:gd name="adj" fmla="val 14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76656" y="3822191"/>
            <a:ext cx="960120" cy="292608"/>
          </a:xfrm>
          <a:prstGeom prst="roundRect">
            <a:avLst>
              <a:gd name="adj" fmla="val 3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" y="3877056"/>
            <a:ext cx="96012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Segoe UI Semibold"/>
              </a:rPr>
              <a:t>NORMAL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755648" y="3799332"/>
            <a:ext cx="4050791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otherwise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08776" y="1499616"/>
            <a:ext cx="5415991" cy="148132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64808" y="1627632"/>
            <a:ext cx="490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12 pre-stored expert action plans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64808" y="1993392"/>
            <a:ext cx="4903927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•  Waterlogging — 5 severities; heat stress and pest / disease cover every severity the engine emits.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1E293B"/>
                </a:solidFill>
                <a:latin typeface="Segoe UI"/>
              </a:rPr>
              <a:t>•  Keyed by ruleFamily::riskLevel — plans appear instantly, with no generation step, identical on every recurrence.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08776" y="3108960"/>
            <a:ext cx="5415991" cy="1481328"/>
          </a:xfrm>
          <a:prstGeom prst="roundRect">
            <a:avLst>
              <a:gd name="adj" fmla="val 6000"/>
            </a:avLst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64808" y="3236976"/>
            <a:ext cx="4903927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FFFFFF"/>
                </a:solidFill>
                <a:latin typeface="Segoe UI Semibold"/>
              </a:rPr>
              <a:t>Safety gate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64808" y="3602736"/>
            <a:ext cx="49039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D1FAE5"/>
                </a:solidFill>
                <a:latin typeface="Segoe UI"/>
              </a:rPr>
              <a:t>•  Validates every plan before display; blocks hazardous actions and escalates to a human when evidence is thin.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950" b="0" i="0">
                <a:solidFill>
                  <a:srgbClr val="D1FAE5"/>
                </a:solidFill>
                <a:latin typeface="Segoe UI"/>
              </a:rPr>
              <a:t>•  The engine never recommends a pesticide — verified diagnosis first.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08776" y="4718304"/>
            <a:ext cx="5415991" cy="5669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208776" y="4718304"/>
            <a:ext cx="5415991" cy="5029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28232" y="4864608"/>
            <a:ext cx="4977079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1">
                <a:solidFill>
                  <a:srgbClr val="1E293B"/>
                </a:solidFill>
                <a:latin typeface="Segoe UI"/>
              </a:rPr>
              <a:t>AVOID:  “Do not apply granular urea into standing flood water — it is lost and worsens the anaerobic condition.”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956048"/>
            <a:ext cx="5349240" cy="932688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2960" y="5056632"/>
            <a:ext cx="483717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400"/>
              </a:spcAft>
            </a:pPr>
            <a:r>
              <a:rPr sz="950" b="0" i="0">
                <a:solidFill>
                  <a:srgbClr val="065F46"/>
                </a:solidFill>
                <a:latin typeface="Segoe UI"/>
              </a:rPr>
              <a:t>Rule priority:  an explicitly reported type always routes to its dedicated rule; ambient signals only auto-route ‘Something else’.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65F46"/>
                </a:solidFill>
                <a:latin typeface="Segoe UI"/>
              </a:rPr>
              <a:t>Review cadence:  CRITICAL 3 h / HIGH 6 h / otherwise 12 h.  HIGH and CRITICAL auto-escalate to the field-worker queue.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PRODUCT TOUR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The Product in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8016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E293B"/>
                </a:solidFill>
                <a:latin typeface="Segoe UI Semibold"/>
              </a:rPr>
              <a:t>Assessed in seconds. Validated before it is ever shown.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719072"/>
            <a:ext cx="457200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DO NOW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Immediate physical interventions — e.g. cut the drainage breach at the lowest bund corner.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AVOID (safety interceptions)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Harmful actions the Safety Gate blocks, such as urea into standing water or contact pesticide sprays.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MONITOR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Symptoms and submergence thresholds to watch, with a review deadline.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WHY THIS RECOMMENDATION?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Plain-language explanation generated strictly from the validated result.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Evidence view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Source, reliability and freshness — 🟢 Fresh  🟡 Aging  🔴 Stale.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1" i="0">
                <a:solidFill>
                  <a:srgbClr val="1E293B"/>
                </a:solidFill>
                <a:latin typeface="Segoe UI"/>
              </a:rPr>
              <a:t>•  Reassess and resolve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050" b="0" i="0">
                <a:solidFill>
                  <a:srgbClr val="1E293B"/>
                </a:solidFill>
                <a:latin typeface="Segoe UI"/>
              </a:rPr>
              <a:t>•  New ground measurements recalculate live; the outcome is recorded.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26964" y="1635432"/>
            <a:ext cx="6229807" cy="353227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0" name="Picture 9" descr="acti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8968" y="1667436"/>
            <a:ext cx="6165799" cy="346826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458968" y="5321808"/>
            <a:ext cx="61657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E293B"/>
                </a:solidFill>
                <a:latin typeface="Segoe UI Semibold"/>
              </a:rPr>
              <a:t>Emergency Action Screen — /incidents/:id</a:t>
            </a:r>
          </a:p>
          <a:p>
            <a:pPr algn="ctr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B6B80"/>
                </a:solidFill>
                <a:latin typeface="Segoe UI"/>
              </a:rPr>
              <a:t>DO NOW, AVOID and MONITOR for a live high-risk paddy incident.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504688"/>
            <a:ext cx="4572000" cy="658368"/>
          </a:xfrm>
          <a:prstGeom prst="roundRect">
            <a:avLst>
              <a:gd name="adj" fmla="val 6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5614416"/>
            <a:ext cx="4059936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1E293B"/>
                </a:solidFill>
                <a:latin typeface="Segoe UI"/>
              </a:rPr>
              <a:t>Also shipped: the farmer dashboard with live weather, a 3-step reporting wizard, the field-worker verification queue, auditable history, and a scenario simulator.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133B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50292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46304"/>
            <a:ext cx="9777679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0B981"/>
                </a:solidFill>
                <a:latin typeface="Segoe UI"/>
              </a:rPr>
              <a:t>FORWARD 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9777679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Segoe UI Semibold"/>
              </a:rPr>
              <a:t>Scope: Shipped, Parked and Next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27487" y="310896"/>
            <a:ext cx="1097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6EE7B7"/>
                </a:solidFill>
                <a:latin typeface="Segoe UI Semibold"/>
              </a:rP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298448"/>
            <a:ext cx="356616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66928" y="1298448"/>
            <a:ext cx="3566160" cy="64008"/>
          </a:xfrm>
          <a:prstGeom prst="rect">
            <a:avLst/>
          </a:prstGeom>
          <a:solidFill>
            <a:srgbClr val="1580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4813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Shipped today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1847088"/>
            <a:ext cx="312724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Dashboard, 3-step reporting wizard, emergency action screen.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Field-worker verification queue and auditable, non-destructive history.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12-plan expert library with safety-gate interceptions.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Scenario simulator with instant reassessment everywhere.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Optional MongoDB persistence — hydrate-on-boot, in-memory fallback.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31 automated tests passing; 19 documented API routes.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15968" y="1298448"/>
            <a:ext cx="356616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15968" y="1298448"/>
            <a:ext cx="3566160" cy="64008"/>
          </a:xfrm>
          <a:prstGeom prst="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4813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Parked for the demo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1847088"/>
            <a:ext cx="312724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Field Map (/field) and Plot Registry (/plots) are disabled — 404, not linked in the navigation.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The registry could only find plots registered inside FarmRescue; there is no government land-records verification.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Two concurrent dev servers overwrote each other in the shared database, so the feature looked broken in front of evaluators.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Implementation is preserved, not deleted — a one-step restore when a Bhulekh / ULPIN-style API and a single-writer data policy exist.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65007" y="1298448"/>
            <a:ext cx="3566160" cy="22128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65007" y="1298448"/>
            <a:ext cx="3566160" cy="64008"/>
          </a:xfrm>
          <a:prstGeom prst="rect">
            <a:avLst/>
          </a:prstGeom>
          <a:solidFill>
            <a:srgbClr val="0E74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84463" y="1481328"/>
            <a:ext cx="312724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E293B"/>
                </a:solidFill>
                <a:latin typeface="Segoe UI Semibold"/>
              </a:rPr>
              <a:t>Next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84463" y="1847088"/>
            <a:ext cx="3127248" cy="15727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P1 · Hardening — rule-boundary tests, a real scheduled reassessment loop, live weather evidence on incident creation, basic role authentication.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P2 · Breadth — multi-crop action plans, photo evidence capture → storage → verification, more agro-climatic regions.</a:t>
            </a:r>
          </a:p>
          <a:p>
            <a:pPr algn="l">
              <a:lnSpc>
                <a:spcPct val="103000"/>
              </a:lnSpc>
              <a:spcBef>
                <a:spcPts val="0"/>
              </a:spcBef>
              <a:spcAft>
                <a:spcPts val="50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•  P3 · Depth — offline-first PWA, sensor / IoT intake, outcome learning loop, FPO multi-tenancy, land-records integration.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8708" y="3643883"/>
            <a:ext cx="3022600" cy="172821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0" name="Picture 19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0712" y="3675887"/>
            <a:ext cx="2958592" cy="16642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66928" y="54132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B"/>
                </a:solidFill>
                <a:latin typeface="Segoe UI Semibold"/>
              </a:rPr>
              <a:t>Farmer Dashboard — /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87747" y="3643883"/>
            <a:ext cx="3022600" cy="172821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3" name="Picture 22" descr="wiz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9751" y="3675887"/>
            <a:ext cx="2958592" cy="1664208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4315968" y="54132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B"/>
                </a:solidFill>
                <a:latin typeface="Segoe UI Semibold"/>
              </a:rPr>
              <a:t>Reporting Wizard — /incidents/new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36787" y="3643883"/>
            <a:ext cx="3022600" cy="1728216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26" name="Picture 25" descr="fieldwork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8791" y="3675887"/>
            <a:ext cx="2958592" cy="16642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8065007" y="5413248"/>
            <a:ext cx="3566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1E293B"/>
                </a:solidFill>
                <a:latin typeface="Segoe UI Semibold"/>
              </a:rPr>
              <a:t>Field Worker Queue — /field-worker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806440"/>
            <a:ext cx="11057839" cy="548640"/>
          </a:xfrm>
          <a:prstGeom prst="roundRect">
            <a:avLst>
              <a:gd name="adj" fmla="val 6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41247" y="5916168"/>
            <a:ext cx="10509199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065F46"/>
                </a:solidFill>
                <a:latin typeface="Segoe UI"/>
              </a:rPr>
              <a:t>Known gaps, stated plainly:  no authentication yet; the waterlogging library is paddy-centric; incident creation seeds a fixed 65 mm rainfall reading; “next reassessment scheduled” is display-only; no real SMS / WhatsApp delivery.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473952"/>
            <a:ext cx="11057839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B6B80"/>
                </a:solidFill>
                <a:latin typeface="Segoe UI"/>
              </a:rPr>
              <a:t>FarmRescue  ·  Emergency Agricultural Early-Warning &amp; Response Platform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B2E1B"/>
            </a:gs>
            <a:gs pos="100000">
              <a:srgbClr val="051A10"/>
            </a:gs>
          </a:gsLst>
          <a:lin scaled="0" ang="1890000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1463040"/>
            <a:ext cx="4572000" cy="4572000"/>
          </a:xfrm>
          <a:prstGeom prst="ellipse">
            <a:avLst/>
          </a:prstGeom>
          <a:solidFill>
            <a:srgbClr val="124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65836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0B981"/>
                </a:solidFill>
                <a:latin typeface="Segoe UI"/>
              </a:rPr>
              <a:t>CLOSING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078992"/>
            <a:ext cx="106070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900" b="1" i="0">
                <a:solidFill>
                  <a:srgbClr val="FFFFFF"/>
                </a:solidFill>
                <a:latin typeface="Segoe UI Semibold"/>
              </a:rPr>
              <a:t>When the farm goes wrong at 3 a.m.,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900" b="1" i="0">
                <a:solidFill>
                  <a:srgbClr val="10B981"/>
                </a:solidFill>
                <a:latin typeface="Segoe UI Semibold"/>
              </a:rPr>
              <a:t>FarmRescue already knows what to do.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3017520"/>
            <a:ext cx="914400" cy="685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3273552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D1FAE5"/>
                </a:solidFill>
                <a:latin typeface="Segoe UI"/>
              </a:rPr>
              <a:t>A deterministic agronomic decision engine, an expert-authored response library, a safety gate that blocks harmful advice, and a human verification loop — with AI strictly in the role of explainer.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4315968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4443983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919472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automated tests passing (zero-dependency Node runner)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81679" y="4315968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46271" y="4443983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12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6271" y="4919472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expert-authored action plans (ICAR / IRRI-aligned)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431" y="4315968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61023" y="4443983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19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61023" y="4919472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documented REST API routes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11183" y="4315968"/>
            <a:ext cx="2613583" cy="1207008"/>
          </a:xfrm>
          <a:prstGeom prst="roundRect">
            <a:avLst>
              <a:gd name="adj" fmla="val 12000"/>
            </a:avLst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75775" y="4443983"/>
            <a:ext cx="228439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15803D"/>
                </a:solidFill>
                <a:latin typeface="Segoe UI Semibold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75775" y="4919472"/>
            <a:ext cx="2284399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1E293B"/>
                </a:solidFill>
                <a:latin typeface="Segoe UI"/>
              </a:rPr>
              <a:t>decisions authored by the AI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5760720"/>
            <a:ext cx="106070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FFFFFF"/>
                </a:solidFill>
                <a:latin typeface="Segoe UI Semibold"/>
              </a:rPr>
              <a:t>Thank you  ·  Questions welcome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CD8B8"/>
                </a:solidFill>
                <a:latin typeface="Segoe UI"/>
              </a:rPr>
              <a:t>FarmRescue — Emergency Agricultural Early-Warning &amp; Response Platform · October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FarmRescue — 7-slide project brief</dc:title>
  <dc:subject>Short official project briefing</dc:subject>
  <dc:creator>FarmRescue Project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