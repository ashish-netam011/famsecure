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One-line pitch: FarmRescue answers the 3 a.m. question a farmer asks when the crop suddenly goes wrong. Emphasise that the system is deterministic by design and that AI never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Three-beat summary. The '0 decisions authored by AI' stat is the headline governance claim — be ready to defend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as a delivery and trust failure, not a knowledge gap. Land the idea that unsafe advice is worse than no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credibility slide. Explain WHY: agricultural advice is safety-critical, so a stochastic decision-maker is unacceptable. Determinism also makes the system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pipeline top to bottom in one breath. Stress that the AI step sits near the END, after every safety decision is already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authentication is NOT implemented — roles exist in the type system and UI. Say it before someone finds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every card. Pick two or three and spend the time on the live demo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money screen. If demoing live, show DO NOW, then AVOID, then open the Simulator drawer.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wizard is deliberately non-academic — the farmer never needs the scientific name of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Heat stress adds CRITICAL at ≥40°C during flowering / panicle initiation. Pest/disease deliberately never recommends a pesticide.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safety gate is what makes this credible to an agronomist. It is also the clearest demonstration that AI does not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design intent: the system knows what it does not know, and it hands uncertainty to a human rather than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note to be ready for: two dev servers running against the same database overwrote each other's data. One writer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scale: the persistence layer was the last milestone and is deliberately swappable behind a store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demo under four minutes. The escalation / de-escalation pair is the strongest thirty seconds — it proves determinism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unprompted. Volunteering the parked scope buys credibility for everything else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gaps from the PRD, not from memory — they are documented in section 14 and roadmap phases in section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determinism message, then invite questions — the questions will be about safety and trust, which is exactly the ground the system is built to defend.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2E1B"/>
            </a:gs>
            <a:gs pos="100000">
              <a:srgbClr val="051A1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12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023360"/>
            <a:ext cx="3474720" cy="3474720"/>
          </a:xfrm>
          <a:prstGeom prst="ellipse">
            <a:avLst/>
          </a:prstGeom>
          <a:solidFill>
            <a:srgbClr val="0F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66160" y="1847088"/>
            <a:ext cx="82296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Segoe UI"/>
              </a:rPr>
              <a:t>OFFICIAL PROJECT BRIEFING  ·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Semibold"/>
              </a:rPr>
              <a:t>🌾  FarmRescue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0312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D1FAE5"/>
                </a:solidFill>
                <a:latin typeface="Segoe UI Semibold"/>
              </a:rPr>
              <a:t>Emergency Agricultural Early-Warning &amp; Response Platform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9CD8B8"/>
                </a:solidFill>
                <a:latin typeface="Segoe UI"/>
              </a:rPr>
              <a:t>“What should I do when the farm suddenly goes wrong?”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6118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Deterministic agronomic risk intelligence that turns raw field evidence into validated, expert-authored action plans in seconds 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where data and rules decide, and AI only explains.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4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12648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1FAE5"/>
                </a:solidFill>
                <a:latin typeface="Segoe UI"/>
              </a:rPr>
              <a:t>Next.js 14 (App Router)  ·  TypeScript  ·  Tailwind CSS  ·  MongoDB  ·  Gemini explanation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5455" y="61264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B981"/>
                </a:solidFill>
                <a:latin typeface="Segoe UI"/>
              </a:rPr>
              <a:t>Hackathon Product Demo  ·  Prototype Grade: Demo-Ready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11057839" cy="1042415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45336"/>
            <a:ext cx="68580" cy="78638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6362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93B"/>
                </a:solidFill>
                <a:latin typeface="Segoe UI Semibold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892808"/>
            <a:ext cx="1047262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80"/>
                </a:solidFill>
                <a:latin typeface="Segoe UI"/>
              </a:rPr>
              <a:t>Crop-loss emergencies unfold in hours, but trusted, location-specific agronomic guidance reaches farmers in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24328"/>
            <a:ext cx="11057839" cy="1042415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752344"/>
            <a:ext cx="68580" cy="7863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77063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93B"/>
                </a:solidFill>
                <a:latin typeface="Segoe UI Semibold"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099816"/>
            <a:ext cx="1047262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80"/>
                </a:solidFill>
                <a:latin typeface="Segoe UI"/>
              </a:rPr>
              <a:t>A field-evidence early-warning platform that assesses a reported problem in seconds and returns a specific, safety-checked response plan.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31336"/>
            <a:ext cx="11057839" cy="1042415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959352"/>
            <a:ext cx="68580" cy="7863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977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93B"/>
                </a:solidFill>
                <a:latin typeface="Segoe UI Semibold"/>
              </a:rPr>
              <a:t>The difference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306824"/>
            <a:ext cx="1047262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80"/>
                </a:solidFill>
                <a:latin typeface="Segoe UI"/>
              </a:rPr>
              <a:t>Data and validated rules decide risk and allowed actions. AI only explains validated results — it never overrides a classification or invents a plan.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3036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Implementation at a glance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77840"/>
            <a:ext cx="2613583" cy="1207008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705855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5803D"/>
                </a:solidFill>
                <a:latin typeface="Segoe UI Semibold"/>
              </a:rPr>
              <a:t>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81344"/>
            <a:ext cx="2284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automated tests passing (zero-dependency Node runner)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1679" y="5577840"/>
            <a:ext cx="2613583" cy="1207008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6271" y="5705855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5803D"/>
                </a:solidFill>
                <a:latin typeface="Segoe UI Semibold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6271" y="6181344"/>
            <a:ext cx="2284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expert-authored action plans (ICAR / IRRI-aligned)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6431" y="5577840"/>
            <a:ext cx="2613583" cy="1207008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1023" y="5705855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5803D"/>
                </a:solidFill>
                <a:latin typeface="Segoe UI Semibold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1023" y="6181344"/>
            <a:ext cx="2284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documented REST API routes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11183" y="5577840"/>
            <a:ext cx="2613583" cy="1207008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5775" y="5705855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5803D"/>
                </a:solidFill>
                <a:latin typeface="Segoe UI Semibold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5775" y="6181344"/>
            <a:ext cx="2284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decisions authored by the AI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33B27"/>
                </a:solidFill>
                <a:latin typeface="Segoe UI Semibold"/>
              </a:rPr>
              <a:t>A crop emergency does not wait for the extension officer.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80"/>
                </a:solidFill>
                <a:latin typeface="Segoe UI"/>
              </a:rPr>
              <a:t>Waterlogging, heat stress and outbreaks escalate within a single day — the window to act is measured in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95728"/>
            <a:ext cx="350306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633472"/>
            <a:ext cx="457200" cy="685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16352"/>
            <a:ext cx="299100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93B"/>
                </a:solidFill>
                <a:latin typeface="Segoe UI Semibold"/>
              </a:rPr>
              <a:t>Invisible onset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10128"/>
            <a:ext cx="299100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Waterlogging, submergence and heat stress cross critical thresholds silently overnight. By the time damage is visible, the highest-value intervention window has already closed.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4314" y="2395728"/>
            <a:ext cx="350306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00346" y="2633472"/>
            <a:ext cx="457200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0346" y="2816352"/>
            <a:ext cx="299100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93B"/>
                </a:solidFill>
                <a:latin typeface="Segoe UI Semibold"/>
              </a:rPr>
              <a:t>Generic, sometimes dangerous advice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346" y="3310128"/>
            <a:ext cx="299100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Blanket advisory (apply urea, spray on schedule) is unsafe under active flooding. Advice that ignores field state can make the loss worse — e.g. granular urea in standing water.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1700" y="2395728"/>
            <a:ext cx="350306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77732" y="2633472"/>
            <a:ext cx="457200" cy="68580"/>
          </a:xfrm>
          <a:prstGeom prst="rect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7732" y="2816352"/>
            <a:ext cx="299100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93B"/>
                </a:solidFill>
                <a:latin typeface="Segoe UI Semibold"/>
              </a:rPr>
              <a:t>No traceability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7732" y="3310128"/>
            <a:ext cx="299100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Advice arrives by word of mouth with no record of the evidence used, who verified it, or whether the crop recovered. Nothing is auditable, so nothing improves.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413248"/>
            <a:ext cx="11057839" cy="7772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5541264"/>
            <a:ext cx="104177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5F46"/>
                </a:solidFill>
                <a:latin typeface="Segoe UI"/>
              </a:rPr>
              <a:t>The agronomic knowledge exists — ICAR / IRRI protocols are well documented. The failure is delivery: it does not reach the farmer at the moment of need, in a form that is actionable and safe.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DESIGN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Non-Negotiable Invariant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11057839" cy="1572768"/>
          </a:xfrm>
          <a:prstGeom prst="roundRect">
            <a:avLst>
              <a:gd name="adj" fmla="val 6000"/>
            </a:avLst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53312"/>
            <a:ext cx="82296" cy="15727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554480"/>
            <a:ext cx="1023487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“Data and validated agricultural rules determine risk and allowed actions. AI explains validated results; AI does not independently decide what a farmer should do.”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54680"/>
            <a:ext cx="5391759" cy="233172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346704"/>
            <a:ext cx="480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5F46"/>
                </a:solidFill>
                <a:latin typeface="Segoe UI Semibold"/>
              </a:rPr>
              <a:t>✅  The deterministic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840480"/>
            <a:ext cx="480654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33B27"/>
                </a:solidFill>
                <a:latin typeface="Segoe UI"/>
              </a:rPr>
              <a:t>•  Versioned rule set evaluates evidence → severity.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33B27"/>
                </a:solidFill>
                <a:latin typeface="Segoe UI"/>
              </a:rPr>
              <a:t>•  Pre-stored action library keyed by ruleFamily::riskLevel.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33B27"/>
                </a:solidFill>
                <a:latin typeface="Segoe UI"/>
              </a:rPr>
              <a:t>•  Safety gate validates every plan before display.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33B27"/>
                </a:solidFill>
                <a:latin typeface="Segoe UI"/>
              </a:rPr>
              <a:t>•  Same inputs → identical plan, every single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154680"/>
            <a:ext cx="5391759" cy="2331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5615" y="3346704"/>
            <a:ext cx="480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293B"/>
                </a:solidFill>
                <a:latin typeface="Segoe UI Semibold"/>
              </a:rPr>
              <a:t>🤖  The AI layer (subordinate)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5615" y="3840480"/>
            <a:ext cx="480654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•  Gemini runs strictly after risk + safety decisions.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•  Strict prompt boundary: explain only, never classify.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•  Cannot alter severity, actions or safety interceptions.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•  Deterministic fallback — the app works with Gemini offline.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650992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576072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E293B"/>
                </a:solidFill>
                <a:latin typeface="Segoe UI"/>
              </a:rPr>
              <a:t>Consequence:  the platform stays useful, auditable and defensible even when the model is unavailable, wrong or over-eager.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Architecture &amp; Decision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" y="1792224"/>
            <a:ext cx="18288" cy="603503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1453896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1333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102348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Inputs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Live weather (Open-Meteo + calibrated agro-climatic fallback), farmer observations, ground measurements.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" y="2450591"/>
            <a:ext cx="18288" cy="603503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112263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7169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075687"/>
            <a:ext cx="102348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Evidence Engine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Normalizes every signal into typed evidence carrying source, strength, reliability and freshness.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" y="3108960"/>
            <a:ext cx="18288" cy="603503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770632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300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34056"/>
            <a:ext cx="102348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Deterministic Risk Engine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Versioned rule set maps evidence → severity (NORMAL → CRITICAL) with no randomness.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" y="3767328"/>
            <a:ext cx="18288" cy="603503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429000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8843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392424"/>
            <a:ext cx="102348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Safety Gate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Validates the planned actions and injects AVOID interceptions for hazardous interventions.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" y="4425696"/>
            <a:ext cx="18288" cy="603503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" y="4087368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14680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050791"/>
            <a:ext cx="102348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Action Plan Library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Returns a pre-stored expert plan: DO NOW, DO NEXT, AVOID, MONITOR, ESCALATE.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" y="4745736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80517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709159"/>
            <a:ext cx="102348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Explain &amp; Verify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AI explains the validated result; field workers verify ground truth; outcome is logged.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394960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55412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1FAE5"/>
                </a:solidFill>
                <a:latin typeface="Segoe UI"/>
              </a:rPr>
              <a:t>Persistence layer  ·  MongoDB hydrate-on-boot, write-behind (debounced ≈800 ms)  ·  transparent in-memory fallback if the database is unreachable  ·  live health at GET /api/system/persistence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Roles &amp; Personas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5400903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400903" cy="685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27632"/>
            <a:ext cx="4852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93B"/>
                </a:solidFill>
                <a:latin typeface="Segoe UI Semibold"/>
              </a:rPr>
              <a:t>FARMER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29967"/>
            <a:ext cx="48522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Report incidents; view farm status, live weather and active incidents; follow the validated plan; add ground measurements; run the scenario simulator; submit outcome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926080"/>
            <a:ext cx="4852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803D"/>
                </a:solidFill>
                <a:latin typeface="Segoe UI"/>
              </a:rPr>
              <a:t>Screens:  /  /incidents/new  /incidents/:id  /history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863" y="1389888"/>
            <a:ext cx="5400903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3863" y="1389888"/>
            <a:ext cx="5400903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8183" y="1627632"/>
            <a:ext cx="4852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93B"/>
                </a:solidFill>
                <a:latin typeface="Segoe UI Semibold"/>
              </a:rPr>
              <a:t>FIELD_WORKER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8183" y="2029967"/>
            <a:ext cx="48522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See a queue of incidents flagged for verification, with distance indicators; submit ground-truth verification and optionally override severity.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8183" y="2926080"/>
            <a:ext cx="4852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Segoe UI"/>
              </a:rPr>
              <a:t>Screens:  /field-worker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38728"/>
            <a:ext cx="5400903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538728"/>
            <a:ext cx="5400903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776472"/>
            <a:ext cx="4852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93B"/>
                </a:solidFill>
                <a:latin typeface="Segoe UI Semibold"/>
              </a:rPr>
              <a:t>FPO_ADMIN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178808"/>
            <a:ext cx="48522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Planned role for FPO-level coordination — community drainage canals, pump support, seed and nursery logistics. Today it appears only in escalation 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5074920"/>
            <a:ext cx="4852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Segoe UI"/>
              </a:rPr>
              <a:t>Screens:  — (planned)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3863" y="3538728"/>
            <a:ext cx="5400903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3863" y="3538728"/>
            <a:ext cx="5400903" cy="68580"/>
          </a:xfrm>
          <a:prstGeom prst="rect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8183" y="3776472"/>
            <a:ext cx="4852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93B"/>
                </a:solidFill>
                <a:latin typeface="Segoe UI Semibold"/>
              </a:rPr>
              <a:t>SYSTEM_ADMIN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8183" y="4178808"/>
            <a:ext cx="48522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Inspect persistence and platform health via the system API.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8183" y="5074920"/>
            <a:ext cx="4852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80"/>
                </a:solidFill>
                <a:latin typeface="Segoe UI"/>
              </a:rPr>
              <a:t>Screens:  GET /api/system/persistence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687568"/>
            <a:ext cx="11057839" cy="53035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5788152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Demo personas:  Krishna Reddy — farmer, 2.8-acre paddy (“Vemuru Riverbed Field”, BPT 5204 / Samba Mahsuri, tillering, poor drainage).    Ramesh Kumar — agricultural field officer.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Core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351525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627632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9621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803D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30397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Segoe UI Semibold"/>
              </a:rPr>
              <a:t>Farmer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32304"/>
            <a:ext cx="303977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Live 24h rainfall, temperature, humidity and wind with active incidents and severity badges.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389888"/>
            <a:ext cx="351525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5962" y="1627632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5962" y="169621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803D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962" y="2103120"/>
            <a:ext cx="30397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Segoe UI Semibold"/>
              </a:rPr>
              <a:t>Emergency Reporting Wizard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962" y="2432304"/>
            <a:ext cx="303977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Non-academic 3-step flow: condition, symptom chips, evidence confirmation.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9508" y="1389888"/>
            <a:ext cx="351525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47252" y="1627632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7252" y="169621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803D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7252" y="2103120"/>
            <a:ext cx="30397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Segoe UI Semibold"/>
              </a:rPr>
              <a:t>Hero Action Screen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7252" y="2432304"/>
            <a:ext cx="303977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DO NOW / AVOID / MONITOR, why-this-recommendation, evidence traceability, live reassessment.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200400"/>
            <a:ext cx="351525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438144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50672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803D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913632"/>
            <a:ext cx="30397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Segoe UI Semibold"/>
              </a:rPr>
              <a:t>Field Worker 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242816"/>
            <a:ext cx="303977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Human-in-the-loop verification: confirm, partially confirm, reject or request more information.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8218" y="3200400"/>
            <a:ext cx="351525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5962" y="3438144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5962" y="350672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803D"/>
                </a:solidFill>
                <a:latin typeface="Segoe UI Semi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5962" y="3913632"/>
            <a:ext cx="30397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Segoe UI Semibold"/>
              </a:rPr>
              <a:t>Auditable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5962" y="4242816"/>
            <a:ext cx="303977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Non-destructive timeline preserving every assessment version, action plan and outcome.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9508" y="3200400"/>
            <a:ext cx="351525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47252" y="3438144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7252" y="350672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803D"/>
                </a:solidFill>
                <a:latin typeface="Segoe UI Semibold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7252" y="3913632"/>
            <a:ext cx="30397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Segoe UI Semibold"/>
              </a:rPr>
              <a:t>Scenario Simulator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7252" y="4242816"/>
            <a:ext cx="303977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Manipulate rainfall, duration, depth, drainage and crop stage → instant re-assessment everywhere.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13892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293B"/>
                </a:solidFill>
                <a:latin typeface="Segoe UI Semibold"/>
              </a:rPr>
              <a:t>Plus, on every screen: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431536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•  Pre-stored recommendation library — 12 expert plans, delivered instantly (no generation step, identical on every recurrence).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•  Optional durable persistence — set MONGODB_URI and restarts survive; otherwise the app runs transparently in memory.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CORE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Emergency Action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50292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•  DO NOW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Step-by-step immediate physical interventions (e.g. cut the drainage breach at the lowest bund corner).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•  AVOID (safety interceptions)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Harmful actions the Safety Gate blocks — e.g. no granular urea into standing flood water, no contact pesticide sprays.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•  MONITOR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Symptoms and submergence thresholds to watch, with a review deadline.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•  WHY THIS RECOMMENDATION?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Plain-language explanation generated strictly from the validated result.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•  Evidence 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Traceability cards showing source, reliability and freshness (🟢 Fresh  🟡 Aging  🔴 Stale).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•  Reassess or resolve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Add new ground measurements for live recalculation, then submit the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74436" y="1832514"/>
            <a:ext cx="5870448" cy="33301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864518"/>
            <a:ext cx="5806440" cy="32661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06440" y="5532120"/>
            <a:ext cx="5806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80"/>
                </a:solidFill>
                <a:latin typeface="Segoe UI"/>
              </a:rPr>
              <a:t>Incident response screen — /incidents/:id (live build)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PRODUCT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Dashboard &amp; Emergency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" y="1646491"/>
            <a:ext cx="5458968" cy="309867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78495"/>
            <a:ext cx="5394960" cy="30346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919472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Farmer Dashboard  —  /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Live environmental conditions, active incidents with severity badges, and a prominent emergency CTA: “Something wrong with your farm right now?”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5644" y="1674009"/>
            <a:ext cx="5361127" cy="304363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wi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706013"/>
            <a:ext cx="5297119" cy="29796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7648" y="4919472"/>
            <a:ext cx="52971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Reporting Wizard  —  /incidents/new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Three steps: what happened, quick symptom chips (e.g. “water standing &gt; 15 cm”), then “Let’s check what we know” before the risk engine runs.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Deterministic Risk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Segoe UI Semibold"/>
              </a:rPr>
              <a:t>Paddy waterlogging thresholds (as implemented)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11057839" cy="60350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" y="1883664"/>
            <a:ext cx="1051560" cy="347472"/>
          </a:xfrm>
          <a:prstGeom prst="roundRect">
            <a:avLst>
              <a:gd name="adj" fmla="val 2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94310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38528"/>
            <a:ext cx="81317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rainfall ≥ 100 mm  OR  (rainfall ≥ 75 mm AND standing water ≥ 36 h)  — both require poor drainage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1727" y="1938528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C2626"/>
                </a:solidFill>
                <a:latin typeface="Segoe UI"/>
              </a:rPr>
              <a:t>Escalates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432304"/>
            <a:ext cx="11057839" cy="60350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2560320"/>
            <a:ext cx="1051560" cy="347472"/>
          </a:xfrm>
          <a:prstGeom prst="roundRect">
            <a:avLst>
              <a:gd name="adj" fmla="val 28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61975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15184"/>
            <a:ext cx="81317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rainfall ≥ 60 mm  OR  standing water ≥ 24 h  OR  depth ≥ 15 cm  OR  rainfall ≥ 50 mm in a sensitive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1727" y="2615184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Segoe UI"/>
              </a:rPr>
              <a:t>Escalates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108960"/>
            <a:ext cx="11057839" cy="60350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4944" y="3236976"/>
            <a:ext cx="1051560" cy="347472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29641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MODERATE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291840"/>
            <a:ext cx="81317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rainfall ≥ 30 mm  OR  standing water ≥ 8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1727" y="329184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0"/>
                </a:solidFill>
                <a:latin typeface="Segoe UI"/>
              </a:rPr>
              <a:t>No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785616"/>
            <a:ext cx="11057839" cy="60350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3913632"/>
            <a:ext cx="1051560" cy="347472"/>
          </a:xfrm>
          <a:prstGeom prst="roundRect">
            <a:avLst>
              <a:gd name="adj" fmla="val 28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397306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68496"/>
            <a:ext cx="81317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rainfall ≥ 15 mm  OR  any standing water &gt; 0 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1727" y="3968496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0"/>
                </a:solidFill>
                <a:latin typeface="Segoe UI"/>
              </a:rPr>
              <a:t>No escalation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462272"/>
            <a:ext cx="11057839" cy="60350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4944" y="4590288"/>
            <a:ext cx="1051560" cy="347472"/>
          </a:xfrm>
          <a:prstGeom prst="roundRect">
            <a:avLst>
              <a:gd name="adj" fmla="val 28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464972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NORMAL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645152"/>
            <a:ext cx="81317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otherwise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1727" y="464515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0"/>
                </a:solidFill>
                <a:latin typeface="Segoe UI"/>
              </a:rPr>
              <a:t>No escalation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230368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5340096"/>
            <a:ext cx="1047262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65F46"/>
                </a:solidFill>
                <a:latin typeface="Segoe UI"/>
              </a:rPr>
              <a:t>Rule-priority policy:  an explicitly reported incident type always routes to its dedicated rule. Ambient signals (heavy rain, standing water, extreme heat) only auto-route ‘Something else’ reports — so a heat-stress report can never be hijacked into a waterlogging plan.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5F46"/>
                </a:solidFill>
                <a:latin typeface="Segoe UI"/>
              </a:rPr>
              <a:t>Review cadence:  reviewAt = assessedAt + { CRITICAL: 3 h, HIGH: 6 h, otherwise: 12 h }.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Recommendation Library &amp; Safety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5532120" cy="2148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1790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12 pre-stored expert action plans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4983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Waterlogging — 5 severities (NORMAL → CRITICAL).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Heat stress and pest / disease cover every severity the engine emits.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Keyed by ruleFamily::riskLevel — plans appear instantly, with no generation step.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Identical plan every time the same conditions recur (deterministic).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53312"/>
            <a:ext cx="5269687" cy="2148840"/>
          </a:xfrm>
          <a:prstGeom prst="roundRect">
            <a:avLst>
              <a:gd name="adj" fmla="val 6000"/>
            </a:avLst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17904"/>
            <a:ext cx="47210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Safety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20240"/>
            <a:ext cx="472104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D1FAE5"/>
                </a:solidFill>
                <a:latin typeface="Segoe UI"/>
              </a:rPr>
              <a:t>•  Validates every plan before it is displayed.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D1FAE5"/>
                </a:solidFill>
                <a:latin typeface="Segoe UI"/>
              </a:rPr>
              <a:t>•  Blocks hazardous interventions outright (AVOID).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D1FAE5"/>
                </a:solidFill>
                <a:latin typeface="Segoe UI"/>
              </a:rPr>
              <a:t>•  Escalates to a human when evidence is thin or conflicting.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D1FAE5"/>
                </a:solidFill>
                <a:latin typeface="Segoe UI"/>
              </a:rPr>
              <a:t>•  The engine never recommends a pesticide — verified diagnosis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39312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Representative interceptions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86784"/>
            <a:ext cx="350306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986784"/>
            <a:ext cx="3503066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169663"/>
            <a:ext cx="306415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DO NOT apply granular urea into standing flood water — it is lost and worsens the anaerobic condition.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4314" y="3986784"/>
            <a:ext cx="350306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4314" y="3986784"/>
            <a:ext cx="3503066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3770" y="4169663"/>
            <a:ext cx="306415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DO NOT spray contact pesticides on a water-stressed or submerged canopy — phytotoxicity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700" y="3986784"/>
            <a:ext cx="350306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1700" y="3986784"/>
            <a:ext cx="3503066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1156" y="4169663"/>
            <a:ext cx="306415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DO NOT re-transplant or top-dress until standing water has receded and the review deadline has passed.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Evidence Quality &amp; Human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Every assessment is traceable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Each observation carries source, reliability, strength and timestamps (observedAt / retrievedAt / freshnessMinutes).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Freshness is surfaced, never hidden: 🟢 Fresh  🟡 Aging  🔴 Stale.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Observed vs forecast values are labelled distinctly — no silent blending.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Unified evidence view returns verdicts plus what is still missing.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03320"/>
            <a:ext cx="5394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Human-in-the-loop escalation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HIGH / CRITICAL incidents auto-escalate to the field-worker queue.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Officer confirms, partially confirms, rejects or requests more information, and may override severity.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Verified ground truth is appended to the audit trail, not overwritten.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0196" y="1607429"/>
            <a:ext cx="5516575" cy="313107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fieldwor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39433"/>
            <a:ext cx="5452567" cy="30670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4956048"/>
            <a:ext cx="545256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E293B"/>
                </a:solidFill>
                <a:latin typeface="Segoe UI Semibold"/>
              </a:rPr>
              <a:t>Field Worker &amp; Extension Queue — /field-worker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Pending inspections with distance indicators and a structured verification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Persistence, Degradation &amp;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" y="1725930"/>
            <a:ext cx="5550408" cy="315010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57934"/>
            <a:ext cx="5486400" cy="3086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193792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E293B"/>
                </a:solidFill>
                <a:latin typeface="Segoe UI Semibold"/>
              </a:rPr>
              <a:t>Auditable History — /history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Non-destructive audit log preserving every assessment version, action plan, verification and farmer outcome.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481328"/>
            <a:ext cx="525139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E293B"/>
                </a:solidFill>
                <a:latin typeface="Segoe UI Semibold"/>
              </a:rPr>
              <a:t>Durable by default, graceful by design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Set MONGODB_URI and every incident / farm mutation is persisted.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Write-behind, debounced ≈800 ms after each mutation.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Boot hydrates from the database — restarts survive.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If the database is unreachable the app transparently runs in memory and retries in the background.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Live health: GET /api/system/persistence.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•  Reassessments append; nothing is destroyed or silently rewritten.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5391759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64008" cy="19933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636776"/>
            <a:ext cx="4806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Segoe UI Semibold"/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39112"/>
            <a:ext cx="480654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Next.js 14 — App Router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TypeScript (strict)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Tailwind CSS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Lucide React icons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417320"/>
            <a:ext cx="5391759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417320"/>
            <a:ext cx="64008" cy="19933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5615" y="1636776"/>
            <a:ext cx="4806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Segoe UI Semibold"/>
              </a:rPr>
              <a:t>Data &amp;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5615" y="2039112"/>
            <a:ext cx="480654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Versioned deterministic rule engine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12-plan expert action library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Evidence freshness &amp; verdict pipeline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Safety gate interceptions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630168"/>
            <a:ext cx="5391759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630168"/>
            <a:ext cx="64008" cy="19933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849624"/>
            <a:ext cx="4806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Segoe UI Semibold"/>
              </a:rPr>
              <a:t>External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251959"/>
            <a:ext cx="480654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Open-Meteo live weather API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Calibrated agro-climatic fallback model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Google Gemini — explanation layer only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MongoDB — optional durable store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30168"/>
            <a:ext cx="5391759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30168"/>
            <a:ext cx="64008" cy="19933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5615" y="3849624"/>
            <a:ext cx="4806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Segoe UI Semibold"/>
              </a:rP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5615" y="4251959"/>
            <a:ext cx="480654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Zero-dependency Node test runner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31 tests passing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Strict prompt boundary on the AI layer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ICAR / IRRI-aligned agronomic 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870448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5971032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5F46"/>
                </a:solidFill>
                <a:latin typeface="Segoe UI"/>
              </a:rPr>
              <a:t>No exotic dependencies, no paid services required to run the demo — GEMINI_API_KEY and MONGODB_URI are both optional.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Primary Demonstration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527048"/>
            <a:ext cx="402336" cy="40233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8648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463040"/>
            <a:ext cx="1005199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Baseline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Krishna Reddy’s paddy field in tillering faces 82 mm of rain and 24 h of standing water → HIGH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44268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232" y="2299715"/>
            <a:ext cx="402336" cy="40233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59151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235708"/>
            <a:ext cx="1005199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Review the plan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Inspect DO NOW (breach bunds, clear drainage), AVOID (urea application blocked) and Why This Recommendation.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916935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3072383"/>
            <a:ext cx="402336" cy="40233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131819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008375"/>
            <a:ext cx="1005199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Field 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Open the Field Worker Queue, inspect the incident and submit official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689603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" y="3845051"/>
            <a:ext cx="402336" cy="40233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904487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3781043"/>
            <a:ext cx="1005199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Simulate escalation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In the Scenario Simulator push rainfall to 115 mm and duration to 48 h → instant CRITICAL RISK.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462271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4617719"/>
            <a:ext cx="402336" cy="40233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677155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4553711"/>
            <a:ext cx="1005199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Simulate de-escalation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Drop rainfall to 5 mm, standing water to 0 h and set drainage to good → LOW / NORMAL.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234939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5390387"/>
            <a:ext cx="402336" cy="40233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44982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5326379"/>
            <a:ext cx="1005199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Report and persist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Report a new incident through the wizard and watch the deterministic engine assess it live; restart the server to prove persistence.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05332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B6B80"/>
                </a:solidFill>
                <a:latin typeface="Segoe UI"/>
              </a:rPr>
              <a:t>Run the demo from a single dev server. Only one process should own the shared Atlas data at a time.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HONEST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Parked for the Demo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481328"/>
            <a:ext cx="1043604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2400E"/>
                </a:solidFill>
                <a:latin typeface="Segoe UI"/>
              </a:rPr>
              <a:t>⚠  Field Map (/field) and Plot Registry (/plots) are disabled in the demo build — they return 404 and are not linked in the navigation.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50592"/>
            <a:ext cx="5669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293B"/>
                </a:solidFill>
                <a:latin typeface="Segoe UI Semibold"/>
              </a:rPr>
              <a:t>Why they were parked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•  The registry could only find plots that had been registered inside FarmRescue — there is no government land-records verification, so it made a promise the data could not keep.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•  Plot coordinates came from user-placed map taps or GPS, not cadastral survey data.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•  Two concurrent dev servers overwrote each other in the shared database, making the feature look broken in front of evaluators.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50592"/>
            <a:ext cx="5132527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293B"/>
                </a:solidFill>
                <a:latin typeface="Segoe UI Semibold"/>
              </a:rPr>
              <a:t>Status and path forward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•  The full implementation is preserved, not deleted — cascading State → Village → Khasra lookup, map chips, register-on-the-spot, Bhuiyan-style khasra report entry.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•  Restore is a one-step move from the parked folder.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B6B80"/>
                </a:solidFill>
                <a:latin typeface="Segoe UI"/>
              </a:rPr>
              <a:t>•  Revisit requires a real land-records API — a Bhulekh / ULPIN-style integration, plus a single-writer data policy.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623560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733288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E293B"/>
                </a:solidFill>
                <a:latin typeface="Segoe UI"/>
              </a:rPr>
              <a:t>Decision: show a smaller honest product rather than a larger one that cannot be defended in a live demo.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FORWARD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Known Gaps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Segoe UI Semibold"/>
              </a:rPr>
              <a:t>Known gaps (honest list)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82496"/>
            <a:ext cx="55778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No authentication — roles exist in the type system and UI, but API routes accept no credentials.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Recommendation library is paddy-centric for waterlogging; other crops fall through to the generic plan.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Incident creation seeds a fixed 65 mm rainfall reading; standing water defaults to 12 h / 10 cm.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“Next reassessment scheduled” is display-only — no background scheduler exists.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Test coverage is partial: risk boundaries, safety-gate rules and library coverage are still untested.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•  No real SMS / WhatsApp / IVR delivery — notification exists only as escalation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1298448"/>
            <a:ext cx="5159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Segoe UI Semibold"/>
              </a:rPr>
              <a:t>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1682496"/>
            <a:ext cx="515995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64808" y="1682496"/>
            <a:ext cx="64008" cy="129844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28800"/>
            <a:ext cx="46113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P1 · Hardening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67128"/>
            <a:ext cx="461131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Boundary tests for risk + safety rules; a real scheduled reassessment loop; live weather evidence on incident creation; basic role authentication.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4808" y="3127248"/>
            <a:ext cx="515995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64808" y="3127248"/>
            <a:ext cx="64008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3273552"/>
            <a:ext cx="46113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P2 · Breadth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611880"/>
            <a:ext cx="461131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Multi-crop action plans; photo evidence capture → storage → verification; more agro-climatic regions.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64808" y="4572000"/>
            <a:ext cx="515995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4808" y="4572000"/>
            <a:ext cx="64008" cy="12984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4718304"/>
            <a:ext cx="46113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P3 · 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5056632"/>
            <a:ext cx="461131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0"/>
                </a:solidFill>
                <a:latin typeface="Segoe UI"/>
              </a:rPr>
              <a:t>Offline-first PWA; sensor / IoT intake; outcome learning loop; multi-tenancy for FPOs; land-records integration.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742432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5843016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5F46"/>
                </a:solidFill>
                <a:latin typeface="Segoe UI"/>
              </a:rPr>
              <a:t>The P0 MVP is complete and demo-ready. Everything above is scheduled work, not a hidden failure.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2E1B"/>
            </a:gs>
            <a:gs pos="100000">
              <a:srgbClr val="051A1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1463040"/>
            <a:ext cx="4572000" cy="4572000"/>
          </a:xfrm>
          <a:prstGeom prst="ellipse">
            <a:avLst/>
          </a:prstGeom>
          <a:solidFill>
            <a:srgbClr val="12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051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Segoe UI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5448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When the farm goes wrong at 3 a.m.,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B981"/>
                </a:solidFill>
                <a:latin typeface="Segoe UI Semibold"/>
              </a:rPr>
              <a:t>FarmRescue already knows what to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3584448"/>
            <a:ext cx="91440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85876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1FAE5"/>
                </a:solidFill>
                <a:latin typeface="Segoe UI"/>
              </a:rPr>
              <a:t>A deterministic agronomic decision engine, an expert-authored response library, a safety gate that blocks harmful advice, and a human verification loop — with AI strictly in the role of explainer.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3892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Thank you  ·  Questions welcome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D8B8"/>
                </a:solidFill>
                <a:latin typeface="Segoe UI"/>
              </a:rPr>
              <a:t>FarmRescue — Emergency Agricultural Early-Warning &amp; Response Platform ·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FarmRescue — Emergency Agricultural Early-Warning &amp; Response Platform</dc:title>
  <dc:subject>Official project briefing</dc:subject>
  <dc:creator>FarmRescue Project</dc:creator>
  <cp:keywords/>
  <dc:description>Deterministic agronomic risk intelligence. Data and rules decide; AI explains.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